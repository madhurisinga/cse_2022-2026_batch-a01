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4" d="100"/>
          <a:sy n="74" d="100"/>
        </p:scale>
        <p:origin x="104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NIVEDITHA" userId="f038f5e389f02ae5" providerId="LiveId" clId="{BA835003-F737-44A4-9F44-DFBD91CAB934}"/>
    <pc:docChg chg="custSel modSld">
      <pc:chgData name="K NIVEDITHA" userId="f038f5e389f02ae5" providerId="LiveId" clId="{BA835003-F737-44A4-9F44-DFBD91CAB934}" dt="2025-12-06T08:27:25.565" v="0" actId="313"/>
      <pc:docMkLst>
        <pc:docMk/>
      </pc:docMkLst>
      <pc:sldChg chg="modSp mod">
        <pc:chgData name="K NIVEDITHA" userId="f038f5e389f02ae5" providerId="LiveId" clId="{BA835003-F737-44A4-9F44-DFBD91CAB934}" dt="2025-12-06T08:27:25.565" v="0" actId="313"/>
        <pc:sldMkLst>
          <pc:docMk/>
          <pc:sldMk cId="0" sldId="259"/>
        </pc:sldMkLst>
        <pc:spChg chg="mod">
          <ac:chgData name="K NIVEDITHA" userId="f038f5e389f02ae5" providerId="LiveId" clId="{BA835003-F737-44A4-9F44-DFBD91CAB934}" dt="2025-12-06T08:27:25.565" v="0" actId="313"/>
          <ac:spMkLst>
            <pc:docMk/>
            <pc:sldMk cId="0" sldId="259"/>
            <ac:spMk id="16" creationId="{B3D69424-8268-F7F7-1DE8-4A33F9C30C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2814" y="6642719"/>
            <a:ext cx="5498465" cy="215265"/>
          </a:xfrm>
          <a:custGeom>
            <a:avLst/>
            <a:gdLst/>
            <a:ahLst/>
            <a:cxnLst/>
            <a:rect l="l" t="t" r="r" b="b"/>
            <a:pathLst>
              <a:path w="5498465" h="215265">
                <a:moveTo>
                  <a:pt x="0" y="214919"/>
                </a:moveTo>
                <a:lnTo>
                  <a:pt x="5498224" y="214919"/>
                </a:lnTo>
                <a:lnTo>
                  <a:pt x="5498224" y="0"/>
                </a:lnTo>
                <a:lnTo>
                  <a:pt x="0" y="0"/>
                </a:lnTo>
                <a:lnTo>
                  <a:pt x="0" y="214919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31400" y="6641999"/>
            <a:ext cx="5191760" cy="215900"/>
          </a:xfrm>
          <a:custGeom>
            <a:avLst/>
            <a:gdLst/>
            <a:ahLst/>
            <a:cxnLst/>
            <a:rect l="l" t="t" r="r" b="b"/>
            <a:pathLst>
              <a:path w="5191759" h="215900">
                <a:moveTo>
                  <a:pt x="0" y="215639"/>
                </a:moveTo>
                <a:lnTo>
                  <a:pt x="5191639" y="215639"/>
                </a:lnTo>
                <a:lnTo>
                  <a:pt x="5191639" y="0"/>
                </a:lnTo>
                <a:lnTo>
                  <a:pt x="0" y="0"/>
                </a:lnTo>
                <a:lnTo>
                  <a:pt x="0" y="215639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23040" y="6642099"/>
            <a:ext cx="568960" cy="215900"/>
          </a:xfrm>
          <a:custGeom>
            <a:avLst/>
            <a:gdLst/>
            <a:ahLst/>
            <a:cxnLst/>
            <a:rect l="l" t="t" r="r" b="b"/>
            <a:pathLst>
              <a:path w="568959" h="215900">
                <a:moveTo>
                  <a:pt x="568959" y="215899"/>
                </a:moveTo>
                <a:lnTo>
                  <a:pt x="0" y="215899"/>
                </a:lnTo>
                <a:lnTo>
                  <a:pt x="0" y="0"/>
                </a:lnTo>
                <a:lnTo>
                  <a:pt x="568959" y="0"/>
                </a:lnTo>
                <a:lnTo>
                  <a:pt x="568959" y="21589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6320" y="5956200"/>
            <a:ext cx="685439" cy="68128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642734"/>
            <a:ext cx="932815" cy="214629"/>
          </a:xfrm>
          <a:custGeom>
            <a:avLst/>
            <a:gdLst/>
            <a:ahLst/>
            <a:cxnLst/>
            <a:rect l="l" t="t" r="r" b="b"/>
            <a:pathLst>
              <a:path w="932815" h="214629">
                <a:moveTo>
                  <a:pt x="932814" y="214629"/>
                </a:moveTo>
                <a:lnTo>
                  <a:pt x="0" y="214629"/>
                </a:lnTo>
                <a:lnTo>
                  <a:pt x="0" y="0"/>
                </a:lnTo>
                <a:lnTo>
                  <a:pt x="932814" y="0"/>
                </a:lnTo>
                <a:lnTo>
                  <a:pt x="932814" y="21462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25" y="182323"/>
            <a:ext cx="473900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99" y="1074318"/>
            <a:ext cx="11346815" cy="3137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5" dirty="0"/>
              <a:t>XX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773949" y="6629558"/>
            <a:ext cx="366141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r>
              <a:rPr cap="small" spc="-75" dirty="0"/>
              <a:t>Dept.</a:t>
            </a:r>
            <a:r>
              <a:rPr cap="small" spc="-10" dirty="0"/>
              <a:t> </a:t>
            </a:r>
            <a:r>
              <a:rPr cap="small" spc="-100" dirty="0"/>
              <a:t>of</a:t>
            </a:r>
            <a:r>
              <a:rPr cap="small" spc="50" dirty="0"/>
              <a:t> </a:t>
            </a:r>
            <a:r>
              <a:rPr cap="small" spc="-114" dirty="0"/>
              <a:t>Computer</a:t>
            </a:r>
            <a:r>
              <a:rPr cap="small" spc="60" dirty="0"/>
              <a:t> </a:t>
            </a:r>
            <a:r>
              <a:rPr cap="small" spc="-95" dirty="0"/>
              <a:t>Science</a:t>
            </a:r>
            <a:r>
              <a:rPr cap="small" spc="55" dirty="0"/>
              <a:t> </a:t>
            </a:r>
            <a:r>
              <a:rPr cap="small" spc="-130" dirty="0"/>
              <a:t>and</a:t>
            </a:r>
            <a:r>
              <a:rPr cap="small" spc="55" dirty="0"/>
              <a:t> </a:t>
            </a:r>
            <a:r>
              <a:rPr cap="small" spc="-13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5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21st.dev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hyperlink" Target="https://github.com/MadhuriSinga/CSE_2022-2026_Batch-A01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7240" y="6634440"/>
            <a:ext cx="11414634" cy="223499"/>
            <a:chOff x="777240" y="6634440"/>
            <a:chExt cx="11414634" cy="223499"/>
          </a:xfrm>
        </p:grpSpPr>
        <p:sp>
          <p:nvSpPr>
            <p:cNvPr id="3" name="object 3"/>
            <p:cNvSpPr/>
            <p:nvPr/>
          </p:nvSpPr>
          <p:spPr>
            <a:xfrm>
              <a:off x="777240" y="6634440"/>
              <a:ext cx="5781675" cy="220979"/>
            </a:xfrm>
            <a:custGeom>
              <a:avLst/>
              <a:gdLst/>
              <a:ahLst/>
              <a:cxnLst/>
              <a:rect l="l" t="t" r="r" b="b"/>
              <a:pathLst>
                <a:path w="5781675" h="220979">
                  <a:moveTo>
                    <a:pt x="57815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781599" y="0"/>
                  </a:lnTo>
                  <a:lnTo>
                    <a:pt x="5781599" y="22067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</a:t>
              </a:r>
              <a:r>
                <a:rPr lang="en-US" sz="1600" dirty="0">
                  <a:solidFill>
                    <a:schemeClr val="bg1"/>
                  </a:solidFill>
                </a:rPr>
                <a:t> </a:t>
              </a: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Science and Engineering</a:t>
              </a:r>
              <a:endParaRPr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559199" y="6634440"/>
              <a:ext cx="5194935" cy="220979"/>
            </a:xfrm>
            <a:custGeom>
              <a:avLst/>
              <a:gdLst/>
              <a:ahLst/>
              <a:cxnLst/>
              <a:rect l="l" t="t" r="r" b="b"/>
              <a:pathLst>
                <a:path w="5194934" h="220979">
                  <a:moveTo>
                    <a:pt x="51947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5194799" y="0"/>
                  </a:lnTo>
                  <a:lnTo>
                    <a:pt x="5194799" y="220679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Srinivasa Ramanujan Institute of Technology</a:t>
              </a:r>
              <a:endParaRPr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754359" y="6636960"/>
              <a:ext cx="437515" cy="220979"/>
            </a:xfrm>
            <a:custGeom>
              <a:avLst/>
              <a:gdLst/>
              <a:ahLst/>
              <a:cxnLst/>
              <a:rect l="l" t="t" r="r" b="b"/>
              <a:pathLst>
                <a:path w="437515" h="220979">
                  <a:moveTo>
                    <a:pt x="437399" y="220679"/>
                  </a:moveTo>
                  <a:lnTo>
                    <a:pt x="0" y="220679"/>
                  </a:lnTo>
                  <a:lnTo>
                    <a:pt x="0" y="0"/>
                  </a:lnTo>
                  <a:lnTo>
                    <a:pt x="437399" y="0"/>
                  </a:lnTo>
                  <a:lnTo>
                    <a:pt x="437399" y="22067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GB" dirty="0"/>
                <a:t>01</a:t>
              </a:r>
              <a:endParaRPr dirty="0"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6634440"/>
            <a:ext cx="777240" cy="221615"/>
          </a:xfrm>
          <a:custGeom>
            <a:avLst/>
            <a:gdLst/>
            <a:ahLst/>
            <a:cxnLst/>
            <a:rect l="l" t="t" r="r" b="b"/>
            <a:pathLst>
              <a:path w="777240" h="221615">
                <a:moveTo>
                  <a:pt x="776879" y="221039"/>
                </a:moveTo>
                <a:lnTo>
                  <a:pt x="0" y="221039"/>
                </a:lnTo>
                <a:lnTo>
                  <a:pt x="0" y="0"/>
                </a:lnTo>
                <a:lnTo>
                  <a:pt x="776879" y="0"/>
                </a:lnTo>
                <a:lnTo>
                  <a:pt x="776879" y="221039"/>
                </a:lnTo>
                <a:close/>
              </a:path>
            </a:pathLst>
          </a:custGeom>
          <a:solidFill>
            <a:srgbClr val="C55A11"/>
          </a:solidFill>
        </p:spPr>
        <p:txBody>
          <a:bodyPr wrap="square" lIns="0" tIns="0" rIns="0" bIns="0" rtlCol="0"/>
          <a:lstStyle/>
          <a:p>
            <a:pPr algn="ctr"/>
            <a:r>
              <a:rPr lang="en-IN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- 01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6670320" y="1784977"/>
            <a:ext cx="4680580" cy="4156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80"/>
              </a:lnSpc>
              <a:spcBef>
                <a:spcPts val="105"/>
              </a:spcBef>
            </a:pPr>
            <a:r>
              <a:rPr lang="en-GB" sz="1750" dirty="0">
                <a:latin typeface="Times New Roman"/>
                <a:cs typeface="Times New Roman"/>
              </a:rPr>
              <a:t>I. VENKATA CHANDRA SEKHAR REDDY</a:t>
            </a:r>
            <a:endParaRPr sz="1750" dirty="0">
              <a:latin typeface="Times New Roman"/>
              <a:cs typeface="Times New Roman"/>
            </a:endParaRPr>
          </a:p>
          <a:p>
            <a:pPr marL="635" algn="ctr">
              <a:lnSpc>
                <a:spcPts val="1060"/>
              </a:lnSpc>
            </a:pP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lang="en-GB" sz="900" spc="-10" dirty="0">
                <a:latin typeface="Times New Roman"/>
                <a:cs typeface="Times New Roman"/>
              </a:rPr>
              <a:t>224G1A05C1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9600" y="2413106"/>
            <a:ext cx="3767122" cy="93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63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Under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guidance</a:t>
            </a:r>
            <a:r>
              <a:rPr sz="1400" i="1" spc="-35" dirty="0">
                <a:latin typeface="Times New Roman"/>
                <a:cs typeface="Times New Roman"/>
              </a:rPr>
              <a:t> </a:t>
            </a:r>
            <a:r>
              <a:rPr sz="1400" i="1" spc="-2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2400" dirty="0">
                <a:latin typeface="Times New Roman"/>
                <a:cs typeface="Times New Roman"/>
              </a:rPr>
              <a:t>Dr. P. Veera Prakash, </a:t>
            </a:r>
            <a:r>
              <a:rPr lang="en-IN" sz="1100" dirty="0">
                <a:latin typeface="Times New Roman"/>
                <a:cs typeface="Times New Roman"/>
              </a:rPr>
              <a:t>M.Tech., Ph.D</a:t>
            </a:r>
          </a:p>
          <a:p>
            <a:pPr marL="12065" marR="5080" algn="ctr">
              <a:lnSpc>
                <a:spcPts val="2790"/>
              </a:lnSpc>
              <a:spcBef>
                <a:spcPts val="114"/>
              </a:spcBef>
            </a:pPr>
            <a:r>
              <a:rPr lang="en-IN" sz="2000" dirty="0">
                <a:latin typeface="Times New Roman"/>
                <a:cs typeface="Times New Roman"/>
              </a:rPr>
              <a:t>Assistant Professor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147578" y="5096081"/>
            <a:ext cx="7890509" cy="144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ts val="2300"/>
              </a:lnSpc>
              <a:spcBef>
                <a:spcPts val="105"/>
              </a:spcBef>
            </a:pPr>
            <a:r>
              <a:rPr sz="2200" dirty="0">
                <a:latin typeface="Times New Roman"/>
                <a:cs typeface="Times New Roman"/>
              </a:rPr>
              <a:t>Department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Science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Engineering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ts val="3565"/>
              </a:lnSpc>
            </a:pP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3400" dirty="0">
              <a:latin typeface="Times New Roman"/>
              <a:cs typeface="Times New Roman"/>
            </a:endParaRPr>
          </a:p>
          <a:p>
            <a:pPr marL="6350" algn="ctr">
              <a:lnSpc>
                <a:spcPts val="1850"/>
              </a:lnSpc>
            </a:pPr>
            <a:r>
              <a:rPr sz="1750" b="1" spc="-10" dirty="0">
                <a:latin typeface="Times New Roman"/>
                <a:cs typeface="Times New Roman"/>
              </a:rPr>
              <a:t>Autonomous</a:t>
            </a:r>
            <a:endParaRPr sz="1750" dirty="0">
              <a:latin typeface="Times New Roman"/>
              <a:cs typeface="Times New Roman"/>
            </a:endParaRPr>
          </a:p>
          <a:p>
            <a:pPr marL="7620" algn="ctr">
              <a:lnSpc>
                <a:spcPts val="1370"/>
              </a:lnSpc>
            </a:pPr>
            <a:r>
              <a:rPr sz="1200" b="1" dirty="0">
                <a:latin typeface="Times New Roman"/>
                <a:cs typeface="Times New Roman"/>
              </a:rPr>
              <a:t>Rotarypuram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Village,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K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Samudram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Mandal,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Ananthapuramu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–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515701.</a:t>
            </a:r>
            <a:endParaRPr sz="1200" dirty="0">
              <a:latin typeface="Times New Roman"/>
              <a:cs typeface="Times New Roman"/>
            </a:endParaRPr>
          </a:p>
          <a:p>
            <a:pPr marL="6985" algn="ctr">
              <a:lnSpc>
                <a:spcPct val="100000"/>
              </a:lnSpc>
              <a:spcBef>
                <a:spcPts val="545"/>
              </a:spcBef>
            </a:pP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GB"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5</a:t>
            </a:r>
            <a:r>
              <a:rPr sz="1300" b="1" dirty="0">
                <a:solidFill>
                  <a:srgbClr val="1E4E78"/>
                </a:solidFill>
                <a:latin typeface="Times New Roman"/>
                <a:cs typeface="Times New Roman"/>
              </a:rPr>
              <a:t>-</a:t>
            </a:r>
            <a:r>
              <a:rPr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202</a:t>
            </a:r>
            <a:r>
              <a:rPr lang="en-GB" sz="1300" b="1" spc="-20" dirty="0">
                <a:solidFill>
                  <a:srgbClr val="1E4E78"/>
                </a:solidFill>
                <a:latin typeface="Times New Roman"/>
                <a:cs typeface="Times New Roman"/>
              </a:rPr>
              <a:t>6</a:t>
            </a:r>
            <a:endParaRPr sz="13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43400" y="1775814"/>
            <a:ext cx="2113915" cy="4654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115"/>
              </a:spcBef>
            </a:pPr>
            <a:r>
              <a:rPr lang="en-GB" sz="2000" dirty="0">
                <a:latin typeface="Times New Roman"/>
                <a:cs typeface="Times New Roman"/>
              </a:rPr>
              <a:t>K. VISHNU SAI</a:t>
            </a:r>
            <a:endParaRPr sz="2000" dirty="0">
              <a:latin typeface="Times New Roman"/>
              <a:cs typeface="Times New Roman"/>
            </a:endParaRPr>
          </a:p>
          <a:p>
            <a:pPr marL="1270" algn="ctr">
              <a:lnSpc>
                <a:spcPts val="1060"/>
              </a:lnSpc>
            </a:pPr>
            <a:r>
              <a:rPr sz="900" dirty="0">
                <a:latin typeface="Times New Roman"/>
                <a:cs typeface="Times New Roman"/>
              </a:rPr>
              <a:t>Roll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No.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lang="en-GB" sz="900" spc="-10" dirty="0">
                <a:latin typeface="Times New Roman"/>
                <a:cs typeface="Times New Roman"/>
              </a:rPr>
              <a:t>224G1A05C4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50641" y="1761919"/>
            <a:ext cx="2169795" cy="564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GB" sz="2400" dirty="0">
                <a:latin typeface="Times New Roman"/>
                <a:cs typeface="Times New Roman"/>
              </a:rPr>
              <a:t>S. MADHURI</a:t>
            </a:r>
            <a:endParaRPr sz="2400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Roll No. </a:t>
            </a:r>
            <a:r>
              <a:rPr sz="1100" spc="-10" dirty="0">
                <a:latin typeface="Times New Roman"/>
                <a:cs typeface="Times New Roman"/>
              </a:rPr>
              <a:t>2</a:t>
            </a:r>
            <a:r>
              <a:rPr lang="en-GB" sz="1100" spc="-10" dirty="0">
                <a:latin typeface="Times New Roman"/>
                <a:cs typeface="Times New Roman"/>
              </a:rPr>
              <a:t>24G1A0543</a:t>
            </a:r>
            <a:endParaRPr sz="11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5009" y="318271"/>
            <a:ext cx="10608310" cy="937894"/>
            <a:chOff x="715009" y="318271"/>
            <a:chExt cx="10608310" cy="937894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009" y="318271"/>
              <a:ext cx="10608182" cy="9378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5008" y="335270"/>
              <a:ext cx="10528300" cy="857885"/>
            </a:xfrm>
            <a:custGeom>
              <a:avLst/>
              <a:gdLst/>
              <a:ahLst/>
              <a:cxnLst/>
              <a:rect l="l" t="t" r="r" b="b"/>
              <a:pathLst>
                <a:path w="10528300" h="857885">
                  <a:moveTo>
                    <a:pt x="10385202" y="857863"/>
                  </a:moveTo>
                  <a:lnTo>
                    <a:pt x="142980" y="857863"/>
                  </a:lnTo>
                  <a:lnTo>
                    <a:pt x="97787" y="850574"/>
                  </a:lnTo>
                  <a:lnTo>
                    <a:pt x="58537" y="830277"/>
                  </a:lnTo>
                  <a:lnTo>
                    <a:pt x="27586" y="799326"/>
                  </a:lnTo>
                  <a:lnTo>
                    <a:pt x="7289" y="760076"/>
                  </a:lnTo>
                  <a:lnTo>
                    <a:pt x="0" y="714883"/>
                  </a:lnTo>
                  <a:lnTo>
                    <a:pt x="0" y="142980"/>
                  </a:lnTo>
                  <a:lnTo>
                    <a:pt x="7289" y="97787"/>
                  </a:lnTo>
                  <a:lnTo>
                    <a:pt x="27586" y="58537"/>
                  </a:lnTo>
                  <a:lnTo>
                    <a:pt x="58537" y="27586"/>
                  </a:lnTo>
                  <a:lnTo>
                    <a:pt x="97787" y="7289"/>
                  </a:lnTo>
                  <a:lnTo>
                    <a:pt x="142980" y="0"/>
                  </a:lnTo>
                  <a:lnTo>
                    <a:pt x="10385202" y="0"/>
                  </a:lnTo>
                  <a:lnTo>
                    <a:pt x="10439918" y="10883"/>
                  </a:lnTo>
                  <a:lnTo>
                    <a:pt x="10486304" y="41877"/>
                  </a:lnTo>
                  <a:lnTo>
                    <a:pt x="10517299" y="88264"/>
                  </a:lnTo>
                  <a:lnTo>
                    <a:pt x="10528183" y="142980"/>
                  </a:lnTo>
                  <a:lnTo>
                    <a:pt x="10528183" y="714883"/>
                  </a:lnTo>
                  <a:lnTo>
                    <a:pt x="10520894" y="760076"/>
                  </a:lnTo>
                  <a:lnTo>
                    <a:pt x="10500596" y="799326"/>
                  </a:lnTo>
                  <a:lnTo>
                    <a:pt x="10469645" y="830277"/>
                  </a:lnTo>
                  <a:lnTo>
                    <a:pt x="10430395" y="850574"/>
                  </a:lnTo>
                  <a:lnTo>
                    <a:pt x="10385202" y="85786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835539" y="501381"/>
            <a:ext cx="67381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200" dirty="0"/>
              <a:t> MEMRACE: Smart Learning Platform</a:t>
            </a:r>
            <a:endParaRPr sz="3200" dirty="0"/>
          </a:p>
        </p:txBody>
      </p:sp>
      <p:sp>
        <p:nvSpPr>
          <p:cNvPr id="18" name="object 18"/>
          <p:cNvSpPr txBox="1"/>
          <p:nvPr/>
        </p:nvSpPr>
        <p:spPr>
          <a:xfrm>
            <a:off x="5987420" y="1278968"/>
            <a:ext cx="2171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Times New Roman"/>
                <a:cs typeface="Times New Roman"/>
              </a:rPr>
              <a:t>by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9143" y="3377908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800" y="-24238"/>
            <a:ext cx="34125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223231" y="6624616"/>
            <a:ext cx="485545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dirty="0"/>
              <a:t>Department of Computer Science and Engineering</a:t>
            </a:r>
          </a:p>
          <a:p>
            <a:pPr marL="12700">
              <a:lnSpc>
                <a:spcPts val="1845"/>
              </a:lnSpc>
            </a:pP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781800" y="6627167"/>
            <a:ext cx="4645704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spc="-25" dirty="0"/>
              <a:t>0</a:t>
            </a:r>
            <a:fld id="{81D60167-4931-47E6-BA6A-407CBD079E47}" type="slidenum">
              <a:rPr spc="-25" smtClean="0"/>
              <a:t>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25787" y="989990"/>
            <a:ext cx="9460230" cy="46253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Title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Justification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Abstract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Problem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statement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Objectives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Project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Literature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survey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objectives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0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(Methods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proposed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system)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References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dirty="0">
                <a:latin typeface="Times New Roman"/>
                <a:cs typeface="Times New Roman"/>
              </a:rPr>
              <a:t>GitHub </a:t>
            </a:r>
            <a:r>
              <a:rPr sz="2800" spc="-20" dirty="0">
                <a:latin typeface="Times New Roman"/>
                <a:cs typeface="Times New Roman"/>
              </a:rPr>
              <a:t>Link</a:t>
            </a:r>
            <a:endParaRPr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sz="2800" spc="-10" dirty="0">
                <a:latin typeface="Times New Roman"/>
                <a:cs typeface="Times New Roman"/>
              </a:rPr>
              <a:t>Queries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7200" y="-19704"/>
            <a:ext cx="3945920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lang="en-GB"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2399"/>
            <a:ext cx="12192000" cy="803275"/>
            <a:chOff x="0" y="212399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2399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9" y="228599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Title</a:t>
            </a:r>
            <a:r>
              <a:rPr spc="-110" dirty="0"/>
              <a:t> </a:t>
            </a:r>
            <a:r>
              <a:rPr spc="-10" dirty="0"/>
              <a:t>Justification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538456" y="6649189"/>
            <a:ext cx="4415835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dirty="0"/>
              <a:t>Department of Computer Science and Engineering</a:t>
            </a:r>
            <a:endParaRPr lang="en-IN" dirty="0"/>
          </a:p>
          <a:p>
            <a:pPr marL="12700">
              <a:lnSpc>
                <a:spcPts val="1845"/>
              </a:lnSpc>
            </a:pP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708716" y="6627167"/>
            <a:ext cx="455297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lang="en-GB"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spc="-25" dirty="0"/>
              <a:t>0</a:t>
            </a:r>
            <a:fld id="{81D60167-4931-47E6-BA6A-407CBD079E47}" type="slidenum">
              <a:rPr spc="-25" smtClean="0"/>
              <a:t>3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33950B-BFF4-BBEC-F688-58E3EE929C58}"/>
              </a:ext>
            </a:extLst>
          </p:cNvPr>
          <p:cNvSpPr txBox="1"/>
          <p:nvPr/>
        </p:nvSpPr>
        <p:spPr>
          <a:xfrm>
            <a:off x="533400" y="1676400"/>
            <a:ext cx="11259845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“MEMRACE – Smart Learning Platform”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suitable because the project focuses on improving memory and learning speed through intelligent revision techniques. The word </a:t>
            </a: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 to improve performance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Since the platform provides adaptive quizzes, spaced repetition, and gamification to help students strengthen learning efficiency, the title clearly reflects the purpose and core functionality of the project.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0" y="-18836"/>
            <a:ext cx="34887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lang="en-GB"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9031" y="210649"/>
            <a:ext cx="251802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538456" y="6627167"/>
            <a:ext cx="424585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US" dirty="0"/>
              <a:t>Department of Computer Science and Engineering</a:t>
            </a:r>
            <a:endParaRPr lang="en-IN" dirty="0"/>
          </a:p>
          <a:p>
            <a:pPr marL="12700">
              <a:lnSpc>
                <a:spcPts val="1845"/>
              </a:lnSpc>
            </a:pP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lang="en-GB"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spc="-25" dirty="0"/>
              <a:t>0</a:t>
            </a:r>
            <a:fld id="{81D60167-4931-47E6-BA6A-407CBD079E47}" type="slidenum">
              <a:rPr spc="-25" smtClean="0"/>
              <a:t>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1136136"/>
            <a:ext cx="11843335" cy="5182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struggle with long-term retention and consistent revision, while teachers face difficulty creating engaging assessments quickly.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like AnkiDroid (spaced repetition) and Kahoot (interactive quizzes) exist but work in isolation and lack AI-driven personalization.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MemRace provides a unified platform with AI-generated flashcards, adaptive revision, gamified quizzes, and real-time analytics to support both learners and educators.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machine learning, adaptive spaced-repetition algorithms, scalable database architecture, and a modern 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21st.dev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UI for smart, efficient learning, memorization techniques.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faster content creation for teachers, improved memory retention for students, and higher engagement through personalized insights and gamified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27846" y="-10736"/>
            <a:ext cx="35649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lang="en-GB"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8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588255" y="6625080"/>
            <a:ext cx="4322051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dirty="0"/>
              <a:t>Department of Computer Science and Engineering</a:t>
            </a:r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lang="en-GB"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spc="-25" dirty="0"/>
              <a:t>0</a:t>
            </a:r>
            <a:fld id="{81D60167-4931-47E6-BA6A-407CBD079E47}" type="slidenum">
              <a:rPr spc="-25" smtClean="0"/>
              <a:t>5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11346815" cy="416024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505459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GB" sz="2500" dirty="0"/>
              <a:t>Traditional learning practices do not adapt to student performance and do not provide revision reminders, which causes forgetting of studied concepts.</a:t>
            </a:r>
          </a:p>
          <a:p>
            <a:pPr marL="469900" marR="5080" indent="-457200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505459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GB" sz="2500" dirty="0"/>
              <a:t>Students find it difficult to track weak topics, manage regular practice, and maintain motivation. Manual revision planning becomes time-consuming and ineffective. </a:t>
            </a:r>
          </a:p>
          <a:p>
            <a:pPr marL="469900" marR="5080" indent="-457200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505459" algn="l"/>
                <a:tab pos="2227580" algn="l"/>
                <a:tab pos="4404995" algn="l"/>
                <a:tab pos="4942840" algn="l"/>
                <a:tab pos="6308090" algn="l"/>
                <a:tab pos="7319645" algn="l"/>
                <a:tab pos="7838440" algn="l"/>
                <a:tab pos="9808210" algn="l"/>
                <a:tab pos="10503535" algn="l"/>
              </a:tabLst>
            </a:pPr>
            <a:r>
              <a:rPr lang="en-GB" sz="2500" dirty="0"/>
              <a:t>Therefore, a smart learning system is required that personalizes learning behaviour, automates revision scheduling, and tracks performance efficiently to enhance long-term memory retention.</a:t>
            </a:r>
            <a:endParaRPr sz="2500"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90120" y="-26936"/>
            <a:ext cx="31839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lang="en-GB"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5790" algn="l"/>
              </a:tabLst>
            </a:pPr>
            <a:r>
              <a:rPr dirty="0"/>
              <a:t>Objectives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Project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538456" y="6641280"/>
            <a:ext cx="4322051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dirty="0"/>
              <a:t>Department of Computer Science and Engineering</a:t>
            </a:r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6934200" y="6625080"/>
            <a:ext cx="435865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lang="en-GB"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spc="-25" dirty="0"/>
              <a:t>0</a:t>
            </a:r>
            <a:fld id="{81D60167-4931-47E6-BA6A-407CBD079E47}" type="slidenum">
              <a:rPr spc="-25" smtClean="0"/>
              <a:t>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72465" y="1110318"/>
            <a:ext cx="11619230" cy="4560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 1:</a:t>
            </a:r>
            <a:b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and adaptive learning platform that provides personalized quizzes, timely revision using spaced-repetition, and quick concept recall through flashcards, so that students can improve long-term memory retention efficiently.</a:t>
            </a:r>
          </a:p>
          <a:p>
            <a:pPr>
              <a:lnSpc>
                <a:spcPct val="150000"/>
              </a:lnSpc>
            </a:pP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 2:</a:t>
            </a:r>
            <a:b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student engagement and performance transparency by offering gamification features such as badges, points, and leaderboards, along with analytics on accuracy, weak topics, and learning progress for continuous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3800" y="-26936"/>
            <a:ext cx="38697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lang="en-GB"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160"/>
            <a:chOff x="0" y="216720"/>
            <a:chExt cx="12192000" cy="803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4400" dirty="0">
                  <a:solidFill>
                    <a:schemeClr val="bg1"/>
                  </a:solidFill>
                  <a:latin typeface="Times New Roman"/>
                  <a:cs typeface="Times New Roman"/>
                </a:rPr>
                <a:t>Literature</a:t>
              </a:r>
              <a:r>
                <a:rPr lang="en-IN" sz="4400" spc="-3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lang="en-IN" sz="4400" dirty="0">
                  <a:solidFill>
                    <a:schemeClr val="bg1"/>
                  </a:solidFill>
                  <a:latin typeface="Times New Roman"/>
                  <a:cs typeface="Times New Roman"/>
                </a:rPr>
                <a:t>survey</a:t>
              </a:r>
              <a:r>
                <a:rPr lang="en-IN" sz="4400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lang="en-IN" sz="4400" dirty="0">
                  <a:solidFill>
                    <a:schemeClr val="bg1"/>
                  </a:solidFill>
                  <a:latin typeface="Times New Roman"/>
                  <a:cs typeface="Times New Roman"/>
                </a:rPr>
                <a:t>for</a:t>
              </a:r>
              <a:r>
                <a:rPr lang="en-IN" sz="4400" spc="-25" dirty="0">
                  <a:solidFill>
                    <a:schemeClr val="bg1"/>
                  </a:solidFill>
                  <a:latin typeface="Times New Roman"/>
                  <a:cs typeface="Times New Roman"/>
                </a:rPr>
                <a:t> </a:t>
              </a:r>
              <a:r>
                <a:rPr lang="en-IN" sz="4400" spc="-10" dirty="0">
                  <a:solidFill>
                    <a:schemeClr val="bg1"/>
                  </a:solidFill>
                  <a:latin typeface="Times New Roman"/>
                  <a:cs typeface="Times New Roman"/>
                </a:rPr>
                <a:t>objectives</a:t>
              </a:r>
              <a:endParaRPr lang="en-IN" sz="4400" dirty="0">
                <a:latin typeface="Times New Roman"/>
                <a:cs typeface="Times New Roman"/>
              </a:endParaRPr>
            </a:p>
            <a:p>
              <a:pPr marL="176530">
                <a:lnSpc>
                  <a:spcPct val="100000"/>
                </a:lnSpc>
              </a:pPr>
              <a:endParaRPr lang="en-IN" sz="1100" dirty="0">
                <a:latin typeface="Lucida Sans Unicode"/>
                <a:cs typeface="Lucida Sans Unicode"/>
              </a:endParaRPr>
            </a:p>
            <a:p>
              <a:endParaRPr dirty="0"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517674" y="6620760"/>
            <a:ext cx="432205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dirty="0"/>
              <a:t>Department of Computer Science and Engineering</a:t>
            </a:r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cap="small" spc="-130" dirty="0"/>
          </a:p>
        </p:txBody>
      </p:sp>
      <p:sp>
        <p:nvSpPr>
          <p:cNvPr id="9" name="object 9"/>
          <p:cNvSpPr txBox="1"/>
          <p:nvPr/>
        </p:nvSpPr>
        <p:spPr>
          <a:xfrm>
            <a:off x="7147541" y="6629197"/>
            <a:ext cx="389127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lang="en-GB" sz="16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spc="-25" dirty="0"/>
              <a:t>0</a:t>
            </a:r>
            <a:fld id="{81D60167-4931-47E6-BA6A-407CBD079E47}" type="slidenum">
              <a:rPr spc="-25" smtClean="0"/>
              <a:t>7</a:t>
            </a:fld>
            <a:endParaRPr spc="-25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FAE6D21-F338-BED7-8172-DFCF23CC7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85828"/>
              </p:ext>
            </p:extLst>
          </p:nvPr>
        </p:nvGraphicFramePr>
        <p:xfrm>
          <a:off x="304800" y="1036080"/>
          <a:ext cx="11229013" cy="5426570"/>
        </p:xfrm>
        <a:graphic>
          <a:graphicData uri="http://schemas.openxmlformats.org/drawingml/2006/table">
            <a:tbl>
              <a:tblPr firstRow="1" bandRow="1"/>
              <a:tblGrid>
                <a:gridCol w="566020">
                  <a:extLst>
                    <a:ext uri="{9D8B030D-6E8A-4147-A177-3AD203B41FA5}">
                      <a16:colId xmlns:a16="http://schemas.microsoft.com/office/drawing/2014/main" val="901219517"/>
                    </a:ext>
                  </a:extLst>
                </a:gridCol>
                <a:gridCol w="1747593">
                  <a:extLst>
                    <a:ext uri="{9D8B030D-6E8A-4147-A177-3AD203B41FA5}">
                      <a16:colId xmlns:a16="http://schemas.microsoft.com/office/drawing/2014/main" val="102229587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3598426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40329627"/>
                    </a:ext>
                  </a:extLst>
                </a:gridCol>
                <a:gridCol w="1791905">
                  <a:extLst>
                    <a:ext uri="{9D8B030D-6E8A-4147-A177-3AD203B41FA5}">
                      <a16:colId xmlns:a16="http://schemas.microsoft.com/office/drawing/2014/main" val="3035797714"/>
                    </a:ext>
                  </a:extLst>
                </a:gridCol>
                <a:gridCol w="2094295">
                  <a:extLst>
                    <a:ext uri="{9D8B030D-6E8A-4147-A177-3AD203B41FA5}">
                      <a16:colId xmlns:a16="http://schemas.microsoft.com/office/drawing/2014/main" val="423964875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404165051"/>
                    </a:ext>
                  </a:extLst>
                </a:gridCol>
              </a:tblGrid>
              <a:tr h="65349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Approach Used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593385"/>
                  </a:ext>
                </a:extLst>
              </a:tr>
              <a:tr h="120691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E-Learning System for Personalized Education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Rao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Int. Journal of Smart Education,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Performance-based adaptive learning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user engagement through personalized content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revision support; no memory retention methods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026033"/>
                  </a:ext>
                </a:extLst>
              </a:tr>
              <a:tr h="116347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Spaced-Repetition Model for Long-Term Memory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Ashley et al.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Learning Technologies,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Spaced repetition scheduling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improvement in long-term retention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analytics or progress tracking for learning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006576"/>
                  </a:ext>
                </a:extLst>
              </a:tr>
              <a:tr h="116347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Gamification in Online Learning Platforms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&amp; Devi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 Education Research Journal,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Points, badges, leaderboard gamification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learner motivation &amp; participation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Motivation decreases without personalized guidance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917040"/>
                  </a:ext>
                </a:extLst>
              </a:tr>
              <a:tr h="116347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Quiz-Based Learning Portal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Prakash &amp; Singh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Web-Learning Systems, 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Topic-wise quiz system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access to practise questions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adaptive difficulty; lacks weak topic identification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698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8917" y="-10736"/>
            <a:ext cx="37173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lang="en-GB" sz="15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899" y="1002318"/>
            <a:ext cx="11164570" cy="54476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505459" algn="l"/>
              </a:tabLst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provides a smart learning platform where only registered users can access courses and assessments. </a:t>
            </a:r>
          </a:p>
          <a:p>
            <a:pPr marL="355600" marR="5080" indent="-342900" algn="just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505459" algn="l"/>
              </a:tabLst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upload or AI instantly provides topics and questions, while students learn through adaptive quizzes that adjust difficulty based on their performance. </a:t>
            </a:r>
          </a:p>
          <a:p>
            <a:pPr marL="355600" marR="5080" indent="-342900" algn="just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505459" algn="l"/>
              </a:tabLst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spaced-repetition system reminds students to revise at the right time, and flashcards help with quick concept recall. </a:t>
            </a:r>
          </a:p>
          <a:p>
            <a:pPr marL="355600" marR="5080" indent="-342900" algn="just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Ø"/>
              <a:tabLst>
                <a:tab pos="505459" algn="l"/>
              </a:tabLst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tracks accuracy, weak topics and progress using analytics, while gamification features like badges, points and leaderboard keep students motivated throughout their learning journey.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38881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32025" algn="l"/>
              </a:tabLst>
            </a:pPr>
            <a:r>
              <a:rPr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420933" y="6625080"/>
            <a:ext cx="4398251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dirty="0"/>
              <a:t>Department of Computer Science and Engineering</a:t>
            </a:r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cap="small" spc="-130" dirty="0"/>
          </a:p>
        </p:txBody>
      </p:sp>
      <p:sp>
        <p:nvSpPr>
          <p:cNvPr id="10" name="object 10"/>
          <p:cNvSpPr txBox="1"/>
          <p:nvPr/>
        </p:nvSpPr>
        <p:spPr>
          <a:xfrm>
            <a:off x="7147541" y="6629197"/>
            <a:ext cx="389127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lang="en-GB" sz="16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spc="-25" dirty="0"/>
              <a:t>0</a:t>
            </a:r>
            <a:fld id="{81D60167-4931-47E6-BA6A-407CBD079E47}" type="slidenum">
              <a:rPr spc="-25" smtClean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-10561"/>
            <a:ext cx="34125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lang="en-GB" sz="15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1570354" y="6625080"/>
            <a:ext cx="4619168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dirty="0"/>
              <a:t>Department of Computer Science and Engineering</a:t>
            </a:r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cap="small" spc="-130" dirty="0"/>
          </a:p>
        </p:txBody>
      </p:sp>
      <p:sp>
        <p:nvSpPr>
          <p:cNvPr id="11" name="object 11"/>
          <p:cNvSpPr txBox="1"/>
          <p:nvPr/>
        </p:nvSpPr>
        <p:spPr>
          <a:xfrm>
            <a:off x="7147541" y="6629197"/>
            <a:ext cx="389127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lang="en-GB" sz="16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793245" y="6629427"/>
            <a:ext cx="228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spc="-25" dirty="0"/>
              <a:t>0</a:t>
            </a:r>
            <a:fld id="{81D60167-4931-47E6-BA6A-407CBD079E47}" type="slidenum">
              <a:rPr spc="-25" smtClean="0"/>
              <a:t>9</a:t>
            </a:fld>
            <a:endParaRPr spc="-25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AD7DC5-6AB8-F732-61C4-C9BB73173542}"/>
              </a:ext>
            </a:extLst>
          </p:cNvPr>
          <p:cNvSpPr txBox="1"/>
          <p:nvPr/>
        </p:nvSpPr>
        <p:spPr>
          <a:xfrm>
            <a:off x="600655" y="1201711"/>
            <a:ext cx="10988090" cy="5216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A., &amp; Reddy, S.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(2023). </a:t>
            </a:r>
            <a:r>
              <a:rPr lang="en-IN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Models for Smart Education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Computer Science (IJCS),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11(3)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55–62.</a:t>
            </a:r>
          </a:p>
          <a:p>
            <a:pPr>
              <a:lnSpc>
                <a:spcPct val="150000"/>
              </a:lnSpc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Ashley, D., &amp; Brown, L.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 </a:t>
            </a:r>
            <a:r>
              <a:rPr lang="en-IN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Retention using Spaced Repetition Techniques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Conference on Learning Technologies,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pp. 1–6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P., &amp; Devi, R.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(2021). </a:t>
            </a:r>
            <a:r>
              <a:rPr lang="en-IN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Techniques for Motivation in Learning Systems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Springer Journal of Educational Research,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9(2)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88–95.</a:t>
            </a:r>
          </a:p>
          <a:p>
            <a:pPr>
              <a:lnSpc>
                <a:spcPct val="150000"/>
              </a:lnSpc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975" y="1219200"/>
            <a:ext cx="9230994" cy="47339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41152" y="-16997"/>
            <a:ext cx="34125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lang="en-GB" sz="15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216720"/>
            <a:ext cx="12192000" cy="803275"/>
            <a:chOff x="0" y="216720"/>
            <a:chExt cx="12192000" cy="803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16720"/>
              <a:ext cx="12192000" cy="8031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232920"/>
              <a:ext cx="12192000" cy="715010"/>
            </a:xfrm>
            <a:custGeom>
              <a:avLst/>
              <a:gdLst/>
              <a:ahLst/>
              <a:cxnLst/>
              <a:rect l="l" t="t" r="r" b="b"/>
              <a:pathLst>
                <a:path w="12192000" h="715010">
                  <a:moveTo>
                    <a:pt x="12191759" y="714599"/>
                  </a:moveTo>
                  <a:lnTo>
                    <a:pt x="0" y="714599"/>
                  </a:lnTo>
                  <a:lnTo>
                    <a:pt x="0" y="0"/>
                  </a:lnTo>
                  <a:lnTo>
                    <a:pt x="12191759" y="0"/>
                  </a:lnTo>
                  <a:lnTo>
                    <a:pt x="12191759" y="714599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025" y="182323"/>
            <a:ext cx="813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  <a:tab pos="5348605" algn="l"/>
                <a:tab pos="6511925" algn="l"/>
              </a:tabLst>
            </a:pPr>
            <a:r>
              <a:rPr dirty="0"/>
              <a:t>Git</a:t>
            </a:r>
            <a:r>
              <a:rPr spc="-75" dirty="0"/>
              <a:t> </a:t>
            </a:r>
            <a:r>
              <a:rPr spc="-25" dirty="0"/>
              <a:t>Hub</a:t>
            </a:r>
            <a:r>
              <a:rPr dirty="0"/>
              <a:t>	Dashboards</a:t>
            </a:r>
            <a:r>
              <a:rPr spc="-60" dirty="0"/>
              <a:t> 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each</a:t>
            </a:r>
            <a:r>
              <a:rPr dirty="0"/>
              <a:t>	</a:t>
            </a:r>
            <a:r>
              <a:rPr spc="-10" dirty="0"/>
              <a:t>student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773948" y="6629558"/>
            <a:ext cx="4245851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dirty="0"/>
              <a:t>Department of Computer Science and Engineering</a:t>
            </a:r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</p:txBody>
      </p:sp>
      <p:sp>
        <p:nvSpPr>
          <p:cNvPr id="12" name="object 12"/>
          <p:cNvSpPr txBox="1"/>
          <p:nvPr/>
        </p:nvSpPr>
        <p:spPr>
          <a:xfrm>
            <a:off x="7147541" y="6629197"/>
            <a:ext cx="389127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lang="en-GB" sz="16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911224" y="6264656"/>
            <a:ext cx="83851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 err="1">
                <a:latin typeface="Arial MT"/>
                <a:cs typeface="Arial MT"/>
              </a:rPr>
              <a:t>Github</a:t>
            </a:r>
            <a:r>
              <a:rPr lang="en-IN" sz="1800" dirty="0">
                <a:latin typeface="Arial MT"/>
                <a:cs typeface="Arial MT"/>
              </a:rPr>
              <a:t> Link: </a:t>
            </a:r>
            <a:r>
              <a:rPr lang="en-IN" sz="1800" dirty="0">
                <a:latin typeface="Arial MT"/>
                <a:cs typeface="Arial MT"/>
                <a:hlinkClick r:id="rId4"/>
              </a:rPr>
              <a:t>https://github.com/MadhuriSinga/CSE_2022-2026_Batch-A01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DD7C11-C3C4-7333-0571-85E615BB6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358" y="1108395"/>
            <a:ext cx="10603609" cy="4987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33045"/>
          </a:xfrm>
          <a:custGeom>
            <a:avLst/>
            <a:gdLst/>
            <a:ahLst/>
            <a:cxnLst/>
            <a:rect l="l" t="t" r="r" b="b"/>
            <a:pathLst>
              <a:path w="12192000" h="233045">
                <a:moveTo>
                  <a:pt x="12191759" y="232559"/>
                </a:moveTo>
                <a:lnTo>
                  <a:pt x="0" y="232559"/>
                </a:lnTo>
                <a:lnTo>
                  <a:pt x="0" y="0"/>
                </a:lnTo>
                <a:lnTo>
                  <a:pt x="12191759" y="0"/>
                </a:lnTo>
                <a:lnTo>
                  <a:pt x="12191759" y="232559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65940" y="-10611"/>
            <a:ext cx="326012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1500" b="1" i="1" dirty="0">
                <a:solidFill>
                  <a:srgbClr val="FFFFFF"/>
                </a:solidFill>
                <a:latin typeface="Times New Roman"/>
                <a:cs typeface="Times New Roman"/>
              </a:rPr>
              <a:t>MEMRACE: Smart learning Platform</a:t>
            </a:r>
            <a:endParaRPr lang="en-GB" sz="15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49031" y="6629427"/>
            <a:ext cx="6350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dirty="0"/>
              <a:t>A</a:t>
            </a:r>
            <a:r>
              <a:rPr spc="-10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lang="en-GB" spc="-25" dirty="0"/>
              <a:t>01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1773948" y="6629558"/>
            <a:ext cx="4169651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lang="en-GB" dirty="0"/>
              <a:t>Department of Computer Science and Engineering</a:t>
            </a:r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  <a:p>
            <a:pPr marL="12700">
              <a:lnSpc>
                <a:spcPts val="1845"/>
              </a:lnSpc>
            </a:pPr>
            <a:endParaRPr lang="en-GB" cap="small" spc="-130" dirty="0"/>
          </a:p>
        </p:txBody>
      </p:sp>
      <p:sp>
        <p:nvSpPr>
          <p:cNvPr id="7" name="object 7"/>
          <p:cNvSpPr txBox="1"/>
          <p:nvPr/>
        </p:nvSpPr>
        <p:spPr>
          <a:xfrm>
            <a:off x="7147541" y="6629197"/>
            <a:ext cx="389127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1845"/>
              </a:lnSpc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1845"/>
              </a:lnSpc>
            </a:pPr>
            <a:endParaRPr lang="en-GB" sz="1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5705" y="2352272"/>
            <a:ext cx="669226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sz="9600" i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sz="9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</TotalTime>
  <Words>1053</Words>
  <Application>Microsoft Office PowerPoint</Application>
  <PresentationFormat>Widescreen</PresentationFormat>
  <Paragraphs>158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Lucida Sans Unicode</vt:lpstr>
      <vt:lpstr>Times New Roman</vt:lpstr>
      <vt:lpstr>Wingdings</vt:lpstr>
      <vt:lpstr>Office Theme</vt:lpstr>
      <vt:lpstr> MEMRACE: Smart Learning Platform</vt:lpstr>
      <vt:lpstr>Contents</vt:lpstr>
      <vt:lpstr>Title Justification</vt:lpstr>
      <vt:lpstr>Abstract</vt:lpstr>
      <vt:lpstr>Problem Statement</vt:lpstr>
      <vt:lpstr>Objectives of Project</vt:lpstr>
      <vt:lpstr>PowerPoint Presentation</vt:lpstr>
      <vt:lpstr>Proposed System</vt:lpstr>
      <vt:lpstr>References</vt:lpstr>
      <vt:lpstr>Git Hub Dashboards of each student</vt:lpstr>
      <vt:lpstr>Any Queries?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MEMRACE: Smart Learning Platform</dc:title>
  <dc:creator>Madhuri</dc:creator>
  <cp:lastModifiedBy>Madhuri Singa Reddy</cp:lastModifiedBy>
  <cp:revision>18</cp:revision>
  <dcterms:created xsi:type="dcterms:W3CDTF">2025-12-04T13:31:44Z</dcterms:created>
  <dcterms:modified xsi:type="dcterms:W3CDTF">2025-12-18T02:32:48Z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2025-12-04T00:00:00Z</vt:filetime>
  </property>
</Properties>
</file>